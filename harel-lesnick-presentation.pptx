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182880"/>
            <a:ext cx="3657600" cy="3657600"/>
          </a:xfrm>
          <a:prstGeom prst="ellipse">
            <a:avLst/>
          </a:prstGeom>
          <a:solidFill>
            <a:srgbClr val="7EB6CF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000" dirty="0">
                <a:solidFill>
                  <a:srgbClr val="A6A6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בניית דף נחיתה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58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הראל לסניק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7EB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מהנדס סאונד · צלם · עורך וידאו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286000" y="3520440"/>
            <a:ext cx="4572000" cy="0"/>
          </a:xfrm>
          <a:prstGeom prst="line">
            <a:avLst/>
          </a:prstGeom>
          <a:noFill/>
          <a:ln w="12700">
            <a:solidFill>
              <a:srgbClr val="2B2B3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A6A6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מטלת סיום קורס — בניית דף נחיתה | KIC Ed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שלב האפיון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78408"/>
            <a:ext cx="8229600" cy="0"/>
          </a:xfrm>
          <a:prstGeom prst="line">
            <a:avLst/>
          </a:prstGeom>
          <a:noFill/>
          <a:ln w="6350">
            <a:solidFill>
              <a:srgbClr val="2B2B3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24128"/>
            <a:ext cx="8412480" cy="612648"/>
          </a:xfrm>
          <a:prstGeom prst="roundRect">
            <a:avLst>
              <a:gd name="adj" fmla="val 14925"/>
            </a:avLst>
          </a:prstGeom>
          <a:solidFill>
            <a:srgbClr val="1A1A21"/>
          </a:solidFill>
          <a:ln/>
          <a:effectLst>
            <a:outerShdw sx="100000" sy="100000" kx="0" ky="0" algn="bl" rotWithShape="0" blurRad="101600" dist="38100" dir="27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303520" y="106984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7EB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רציתי לבנות?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069848"/>
            <a:ext cx="45720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דף נחיתה חד-עמודי — פורטפוליו אישי שמציג שירותים ומוביל לקוחות להתקשר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8412480" cy="612648"/>
          </a:xfrm>
          <a:prstGeom prst="roundRect">
            <a:avLst>
              <a:gd name="adj" fmla="val 14925"/>
            </a:avLst>
          </a:prstGeom>
          <a:solidFill>
            <a:srgbClr val="1A1A21"/>
          </a:solidFill>
          <a:ln/>
          <a:effectLst>
            <a:outerShdw sx="100000" sy="100000" kx="0" ky="0" algn="bl" rotWithShape="0" blurRad="101600" dist="38100" dir="27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303520" y="17830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7EB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 קהל היעד?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783080"/>
            <a:ext cx="45720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אומנים ולהקות, מפתחי משחקי מחשב, יוצרי תוכן — כל מי שצריך סאונד, צילום או וידאו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450592"/>
            <a:ext cx="8412480" cy="612648"/>
          </a:xfrm>
          <a:prstGeom prst="roundRect">
            <a:avLst>
              <a:gd name="adj" fmla="val 14925"/>
            </a:avLst>
          </a:prstGeom>
          <a:solidFill>
            <a:srgbClr val="1A1A21"/>
          </a:solidFill>
          <a:ln/>
          <a:effectLst>
            <a:outerShdw sx="100000" sy="100000" kx="0" ky="0" algn="bl" rotWithShape="0" blurRad="101600" dist="38100" dir="2700000">
              <a:srgbClr val="00000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303520" y="249631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7EB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הפעולה המרכזית?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496312"/>
            <a:ext cx="45720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קביעת שיחה / פגישה — דרך WhatsApp או מייל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163824"/>
            <a:ext cx="8412480" cy="612648"/>
          </a:xfrm>
          <a:prstGeom prst="roundRect">
            <a:avLst>
              <a:gd name="adj" fmla="val 14925"/>
            </a:avLst>
          </a:prstGeom>
          <a:solidFill>
            <a:srgbClr val="1A1A21"/>
          </a:solidFill>
          <a:ln/>
          <a:effectLst>
            <a:outerShdw sx="100000" sy="100000" kx="0" ky="0" algn="bl" rotWithShape="0" blurRad="101600" dist="38100" dir="2700000">
              <a:srgbClr val="000000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03520" y="320954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7EB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תחושה שרציתי להעביר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209544"/>
            <a:ext cx="45720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מקצועי, אישי, בולד ודארק — רציני אך לא קר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877056"/>
            <a:ext cx="8412480" cy="612648"/>
          </a:xfrm>
          <a:prstGeom prst="roundRect">
            <a:avLst>
              <a:gd name="adj" fmla="val 14925"/>
            </a:avLst>
          </a:prstGeom>
          <a:solidFill>
            <a:srgbClr val="1A1A21"/>
          </a:solidFill>
          <a:ln/>
          <a:effectLst>
            <a:outerShdw sx="100000" sy="100000" kx="0" ky="0" algn="bl" rotWithShape="0" blurRad="101600" dist="38100" dir="2700000">
              <a:srgbClr val="000000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03520" y="392277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7EB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הרסמה המרכזי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3922776"/>
            <a:ext cx="45720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"מוכן לכל סוג עבודה, בקליבר גבוה"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בניית הפרומפט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78408"/>
            <a:ext cx="8229600" cy="0"/>
          </a:xfrm>
          <a:prstGeom prst="line">
            <a:avLst/>
          </a:prstGeom>
          <a:noFill/>
          <a:ln w="6350">
            <a:solidFill>
              <a:srgbClr val="2B2B3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241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A6A6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לפי דרישות המטלה הפרומפט כלל 15 סעיפים: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0" y="141732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1A1A21"/>
          </a:solidFill>
          <a:ln/>
          <a:effectLst>
            <a:outerShdw sx="100000" sy="100000" kx="0" ky="0" algn="bl" rotWithShape="0" blurRad="101600" dist="38100" dir="27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75320" y="15727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EB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080760" y="1572768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סוג האתר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75320" y="2194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EB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080760" y="2194560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מטרת האתר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75320" y="28163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EB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080760" y="2816352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קהל היעד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75320" y="34381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EB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80760" y="3438144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שפה וכיוון (RTL)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75320" y="40599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EB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080760" y="4059936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מבנה האזורים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108960" y="141732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1A1A21"/>
          </a:solidFill>
          <a:ln/>
          <a:effectLst>
            <a:outerShdw sx="100000" sy="100000" kx="0" ky="0" algn="bl" rotWithShape="0" blurRad="101600" dist="38100" dir="2700000">
              <a:srgbClr val="000000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40680" y="15727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EB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46120" y="1572768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תוכן בכל אזור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40680" y="2194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EB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46120" y="2194560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סגנון עיצובי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40680" y="28163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EB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46120" y="2816352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צבעים ופונטים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40680" y="34381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EB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46120" y="3438144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התאמה למובייל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40680" y="40599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EB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46120" y="4059936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נגישות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141732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1A1A21"/>
          </a:solidFill>
          <a:ln/>
          <a:effectLst>
            <a:outerShdw sx="100000" sy="100000" kx="0" ky="0" algn="bl" rotWithShape="0" blurRad="101600" dist="38100" dir="2700000">
              <a:srgbClr val="000000">
                <a:alpha val="2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606040" y="15727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EB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11480" y="1572768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Placeholders למדיה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606040" y="2194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EB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11480" y="2194560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כפתורים ופעולות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606040" y="28163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EB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11480" y="2816352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דרישות טכניות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606040" y="34381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EB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11480" y="3438144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לא לעשות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606040" y="40599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EB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11480" y="4059936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כלי עבודה ופרסום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כלי העבודה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78408"/>
            <a:ext cx="8229600" cy="0"/>
          </a:xfrm>
          <a:prstGeom prst="line">
            <a:avLst/>
          </a:prstGeom>
          <a:noFill/>
          <a:ln w="6350">
            <a:solidFill>
              <a:srgbClr val="2B2B3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8412480" cy="804672"/>
          </a:xfrm>
          <a:prstGeom prst="roundRect">
            <a:avLst>
              <a:gd name="adj" fmla="val 11364"/>
            </a:avLst>
          </a:prstGeom>
          <a:solidFill>
            <a:srgbClr val="1A1A21"/>
          </a:solidFill>
          <a:ln/>
          <a:effectLst>
            <a:outerShdw sx="100000" sy="100000" kx="0" ky="0" algn="bl" rotWithShape="0" blurRad="101600" dist="38100" dir="27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0" y="1106424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7EB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(Anthropic)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69280" y="15087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A6A6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Sonnet 4.5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106424"/>
            <a:ext cx="4937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כתיבת כל הקוד — HTML, CSS, JS, אפיון ותיעוד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011680"/>
            <a:ext cx="8412480" cy="804672"/>
          </a:xfrm>
          <a:prstGeom prst="roundRect">
            <a:avLst>
              <a:gd name="adj" fmla="val 11364"/>
            </a:avLst>
          </a:prstGeom>
          <a:solidFill>
            <a:srgbClr val="1A1A21"/>
          </a:solidFill>
          <a:ln/>
          <a:effectLst>
            <a:outerShdw sx="100000" sy="100000" kx="0" ky="0" algn="bl" rotWithShape="0" blurRad="101600" dist="38100" dir="2700000">
              <a:srgbClr val="00000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669280" y="2066544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7EB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Cowork (Claude Desktop)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0" y="2468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A6A6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מצב Cowork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066544"/>
            <a:ext cx="4937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סביבת העבודה — קבצים, טרמינל, Preview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971800"/>
            <a:ext cx="8412480" cy="804672"/>
          </a:xfrm>
          <a:prstGeom prst="roundRect">
            <a:avLst>
              <a:gd name="adj" fmla="val 11364"/>
            </a:avLst>
          </a:prstGeom>
          <a:solidFill>
            <a:srgbClr val="1A1A21"/>
          </a:solidFill>
          <a:ln/>
          <a:effectLst>
            <a:outerShdw sx="100000" sy="100000" kx="0" ky="0" algn="bl" rotWithShape="0" blurRad="101600" dist="38100" dir="2700000">
              <a:srgbClr val="00000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69280" y="3026664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7EB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669280" y="34290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A6A6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+ GitHub Pages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026664"/>
            <a:ext cx="4937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ניהול גרסאות ופרסום האתר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931920"/>
            <a:ext cx="8412480" cy="804672"/>
          </a:xfrm>
          <a:prstGeom prst="roundRect">
            <a:avLst>
              <a:gd name="adj" fmla="val 11364"/>
            </a:avLst>
          </a:prstGeom>
          <a:solidFill>
            <a:srgbClr val="1A1A21"/>
          </a:solidFill>
          <a:ln/>
          <a:effectLst>
            <a:outerShdw sx="100000" sy="100000" kx="0" ky="0" algn="bl" rotWithShape="0" blurRad="101600" dist="38100" dir="2700000">
              <a:srgbClr val="000000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69280" y="3986784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7EB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/ CSS / JS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669280" y="43891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A6A6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framework, no bundler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3986784"/>
            <a:ext cx="4937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בסיס טכנולוגי טהור — ללא Build Step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התוצר — מבנה האתר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78408"/>
            <a:ext cx="8229600" cy="0"/>
          </a:xfrm>
          <a:prstGeom prst="line">
            <a:avLst/>
          </a:prstGeom>
          <a:noFill/>
          <a:ln w="6350">
            <a:solidFill>
              <a:srgbClr val="2B2B3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1A1A21"/>
          </a:solidFill>
          <a:ln/>
          <a:effectLst>
            <a:outerShdw sx="100000" sy="100000" kx="0" ky="0" algn="bl" rotWithShape="0" blurRad="101600" dist="38100" dir="27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86200" y="1161288"/>
            <a:ext cx="438912" cy="438912"/>
          </a:xfrm>
          <a:prstGeom prst="ellipse">
            <a:avLst/>
          </a:prstGeom>
          <a:solidFill>
            <a:srgbClr val="62A1BF"/>
          </a:solidFill>
          <a:ln/>
        </p:spPr>
      </p:sp>
      <p:sp>
        <p:nvSpPr>
          <p:cNvPr id="6" name="Text 4"/>
          <p:cNvSpPr/>
          <p:nvPr/>
        </p:nvSpPr>
        <p:spPr>
          <a:xfrm>
            <a:off x="3886200" y="1161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143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7EB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 + שירותים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563624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A6A6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שם, תפקיד וטאגליין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A6A6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שלושת השירותים המרכזיים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A6A6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רקע עם Parallax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1A1A21"/>
          </a:solidFill>
          <a:ln/>
          <a:effectLst>
            <a:outerShdw sx="100000" sy="100000" kx="0" ky="0" algn="bl" rotWithShape="0" blurRad="101600" dist="38100" dir="27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75320" y="1161288"/>
            <a:ext cx="438912" cy="438912"/>
          </a:xfrm>
          <a:prstGeom prst="ellipse">
            <a:avLst/>
          </a:prstGeom>
          <a:solidFill>
            <a:srgbClr val="62A1BF"/>
          </a:solidFill>
          <a:ln/>
        </p:spPr>
      </p:sp>
      <p:sp>
        <p:nvSpPr>
          <p:cNvPr id="11" name="Text 9"/>
          <p:cNvSpPr/>
          <p:nvPr/>
        </p:nvSpPr>
        <p:spPr>
          <a:xfrm>
            <a:off x="8275320" y="1161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92040" y="1143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7EB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פרויקט נוכחי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1563624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A6A6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אלבום מלא בהפקה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A6A6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כפרויקט הגמר של המכללה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A6A6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חלון XP עם תמונה + badge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97180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1A1A21"/>
          </a:solidFill>
          <a:ln/>
          <a:effectLst>
            <a:outerShdw sx="100000" sy="100000" kx="0" ky="0" algn="bl" rotWithShape="0" blurRad="101600" dist="38100" dir="270000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86200" y="3081528"/>
            <a:ext cx="438912" cy="438912"/>
          </a:xfrm>
          <a:prstGeom prst="ellipse">
            <a:avLst/>
          </a:prstGeom>
          <a:solidFill>
            <a:srgbClr val="62A1BF"/>
          </a:solidFill>
          <a:ln/>
        </p:spPr>
      </p:sp>
      <p:sp>
        <p:nvSpPr>
          <p:cNvPr id="16" name="Text 14"/>
          <p:cNvSpPr/>
          <p:nvPr/>
        </p:nvSpPr>
        <p:spPr>
          <a:xfrm>
            <a:off x="3886200" y="30815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30632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7EB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תיק עבודות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3483864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A6A6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מוזיקה: 3 הוצאות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A6A6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(Spotify / Apple / YouTube)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A6A6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וידאו: 3 קליפים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A6A6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תמונות: גלריית XP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97180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1A1A21"/>
          </a:solidFill>
          <a:ln/>
          <a:effectLst>
            <a:outerShdw sx="100000" sy="100000" kx="0" ky="0" algn="bl" rotWithShape="0" blurRad="101600" dist="38100" dir="2700000">
              <a:srgbClr val="00000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75320" y="3081528"/>
            <a:ext cx="438912" cy="438912"/>
          </a:xfrm>
          <a:prstGeom prst="ellipse">
            <a:avLst/>
          </a:prstGeom>
          <a:solidFill>
            <a:srgbClr val="62A1BF"/>
          </a:solidFill>
          <a:ln/>
        </p:spPr>
      </p:sp>
      <p:sp>
        <p:nvSpPr>
          <p:cNvPr id="21" name="Text 19"/>
          <p:cNvSpPr/>
          <p:nvPr/>
        </p:nvSpPr>
        <p:spPr>
          <a:xfrm>
            <a:off x="8275320" y="30815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30632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7EB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יצירת קשר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92040" y="3483864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A6A6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כפתור מייל עם אפקט סאונד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A6A6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"You've Got Mail"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A6A6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(WhatsApp — בקרוב)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פיצ׳רים מיוחדים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78408"/>
            <a:ext cx="8229600" cy="0"/>
          </a:xfrm>
          <a:prstGeom prst="line">
            <a:avLst/>
          </a:prstGeom>
          <a:noFill/>
          <a:ln w="6350">
            <a:solidFill>
              <a:srgbClr val="2B2B3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051560"/>
            <a:ext cx="4069080" cy="1078992"/>
          </a:xfrm>
          <a:prstGeom prst="roundRect">
            <a:avLst>
              <a:gd name="adj" fmla="val 8475"/>
            </a:avLst>
          </a:prstGeom>
          <a:solidFill>
            <a:srgbClr val="1A1A21"/>
          </a:solidFill>
          <a:ln/>
          <a:effectLst>
            <a:outerShdw sx="100000" sy="100000" kx="0" ky="0" algn="bl" rotWithShape="0" blurRad="101600" dist="38100" dir="27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26680" y="1143000"/>
            <a:ext cx="777240" cy="274320"/>
          </a:xfrm>
          <a:prstGeom prst="roundRect">
            <a:avLst>
              <a:gd name="adj" fmla="val 16667"/>
            </a:avLst>
          </a:prstGeom>
          <a:solidFill>
            <a:srgbClr val="62A1BF"/>
          </a:solidFill>
          <a:ln/>
        </p:spPr>
      </p:sp>
      <p:sp>
        <p:nvSpPr>
          <p:cNvPr id="6" name="Text 4"/>
          <p:cNvSpPr/>
          <p:nvPr/>
        </p:nvSpPr>
        <p:spPr>
          <a:xfrm>
            <a:off x="7726680" y="11430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[XP]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709160" y="1124712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7EB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חלונות XP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09160" y="1554480"/>
            <a:ext cx="3794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A6A6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גלריית הצילום נפתחת בחלונות Draggable בסגנון Windows XP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051560"/>
            <a:ext cx="4069080" cy="1078992"/>
          </a:xfrm>
          <a:prstGeom prst="roundRect">
            <a:avLst>
              <a:gd name="adj" fmla="val 8475"/>
            </a:avLst>
          </a:prstGeom>
          <a:solidFill>
            <a:srgbClr val="1A1A21"/>
          </a:solidFill>
          <a:ln/>
          <a:effectLst>
            <a:outerShdw sx="100000" sy="100000" kx="0" ky="0" algn="bl" rotWithShape="0" blurRad="101600" dist="38100" dir="27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20440" y="1143000"/>
            <a:ext cx="777240" cy="274320"/>
          </a:xfrm>
          <a:prstGeom prst="roundRect">
            <a:avLst>
              <a:gd name="adj" fmla="val 16667"/>
            </a:avLst>
          </a:prstGeom>
          <a:solidFill>
            <a:srgbClr val="62A1BF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11430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[EXIF]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02920" y="1124712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7EB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Properties Panel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1554480"/>
            <a:ext cx="3794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A6A6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לחיצה על ? פותחת פאנל EXIF עם נתוני מצלמה אמיתיים מהתמונות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2313432"/>
            <a:ext cx="4069080" cy="1078992"/>
          </a:xfrm>
          <a:prstGeom prst="roundRect">
            <a:avLst>
              <a:gd name="adj" fmla="val 8475"/>
            </a:avLst>
          </a:prstGeom>
          <a:solidFill>
            <a:srgbClr val="1A1A21"/>
          </a:solidFill>
          <a:ln/>
          <a:effectLst>
            <a:outerShdw sx="100000" sy="100000" kx="0" ky="0" algn="bl" rotWithShape="0" blurRad="101600" dist="38100" dir="270000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26680" y="2404872"/>
            <a:ext cx="777240" cy="274320"/>
          </a:xfrm>
          <a:prstGeom prst="roundRect">
            <a:avLst>
              <a:gd name="adj" fmla="val 16667"/>
            </a:avLst>
          </a:prstGeom>
          <a:solidFill>
            <a:srgbClr val="62A1BF"/>
          </a:solidFill>
          <a:ln/>
        </p:spPr>
      </p:sp>
      <p:sp>
        <p:nvSpPr>
          <p:cNvPr id="16" name="Text 14"/>
          <p:cNvSpPr/>
          <p:nvPr/>
        </p:nvSpPr>
        <p:spPr>
          <a:xfrm>
            <a:off x="7726680" y="240487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[clip]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709160" y="2386584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7EB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Clippy Easter Egg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09160" y="2816352"/>
            <a:ext cx="3794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A6A6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Clippy קבוע בפינה — קורץ עם hover animation — Easter egg נסתר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313432"/>
            <a:ext cx="4069080" cy="1078992"/>
          </a:xfrm>
          <a:prstGeom prst="roundRect">
            <a:avLst>
              <a:gd name="adj" fmla="val 8475"/>
            </a:avLst>
          </a:prstGeom>
          <a:solidFill>
            <a:srgbClr val="1A1A21"/>
          </a:solidFill>
          <a:ln/>
          <a:effectLst>
            <a:outerShdw sx="100000" sy="100000" kx="0" ky="0" algn="bl" rotWithShape="0" blurRad="101600" dist="38100" dir="2700000">
              <a:srgbClr val="00000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520440" y="2404872"/>
            <a:ext cx="777240" cy="274320"/>
          </a:xfrm>
          <a:prstGeom prst="roundRect">
            <a:avLst>
              <a:gd name="adj" fmla="val 16667"/>
            </a:avLst>
          </a:prstGeom>
          <a:solidFill>
            <a:srgbClr val="62A1BF"/>
          </a:solidFill>
          <a:ln/>
        </p:spPr>
      </p:sp>
      <p:sp>
        <p:nvSpPr>
          <p:cNvPr id="21" name="Text 19"/>
          <p:cNvSpPr/>
          <p:nvPr/>
        </p:nvSpPr>
        <p:spPr>
          <a:xfrm>
            <a:off x="3520440" y="240487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[par]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02920" y="2386584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7EB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Parallax Scrolling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2816352"/>
            <a:ext cx="3794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A6A6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רקע פרלקס דרך JS — עובד גם ב-iOS שחוסם background-attachment:fixed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0" y="3575304"/>
            <a:ext cx="4069080" cy="1078992"/>
          </a:xfrm>
          <a:prstGeom prst="roundRect">
            <a:avLst>
              <a:gd name="adj" fmla="val 8475"/>
            </a:avLst>
          </a:prstGeom>
          <a:solidFill>
            <a:srgbClr val="1A1A21"/>
          </a:solidFill>
          <a:ln/>
          <a:effectLst>
            <a:outerShdw sx="100000" sy="100000" kx="0" ky="0" algn="bl" rotWithShape="0" blurRad="101600" dist="38100" dir="2700000">
              <a:srgbClr val="000000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26680" y="3666744"/>
            <a:ext cx="777240" cy="274320"/>
          </a:xfrm>
          <a:prstGeom prst="roundRect">
            <a:avLst>
              <a:gd name="adj" fmla="val 16667"/>
            </a:avLst>
          </a:prstGeom>
          <a:solidFill>
            <a:srgbClr val="62A1BF"/>
          </a:solidFill>
          <a:ln/>
        </p:spPr>
      </p:sp>
      <p:sp>
        <p:nvSpPr>
          <p:cNvPr id="26" name="Text 24"/>
          <p:cNvSpPr/>
          <p:nvPr/>
        </p:nvSpPr>
        <p:spPr>
          <a:xfrm>
            <a:off x="7726680" y="366674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[webp]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709160" y="3648456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7EB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WebP + Fallback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709160" y="4078224"/>
            <a:ext cx="3794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A6A6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תמונה: WebP מותאם + JPG fallback — ~70% קטן יותר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3575304"/>
            <a:ext cx="4069080" cy="1078992"/>
          </a:xfrm>
          <a:prstGeom prst="roundRect">
            <a:avLst>
              <a:gd name="adj" fmla="val 8475"/>
            </a:avLst>
          </a:prstGeom>
          <a:solidFill>
            <a:srgbClr val="1A1A21"/>
          </a:solidFill>
          <a:ln/>
          <a:effectLst>
            <a:outerShdw sx="100000" sy="100000" kx="0" ky="0" algn="bl" rotWithShape="0" blurRad="101600" dist="38100" dir="2700000">
              <a:srgbClr val="000000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520440" y="3666744"/>
            <a:ext cx="777240" cy="274320"/>
          </a:xfrm>
          <a:prstGeom prst="roundRect">
            <a:avLst>
              <a:gd name="adj" fmla="val 16667"/>
            </a:avLst>
          </a:prstGeom>
          <a:solidFill>
            <a:srgbClr val="62A1BF"/>
          </a:solidFill>
          <a:ln/>
        </p:spPr>
      </p:sp>
      <p:sp>
        <p:nvSpPr>
          <p:cNvPr id="31" name="Text 29"/>
          <p:cNvSpPr/>
          <p:nvPr/>
        </p:nvSpPr>
        <p:spPr>
          <a:xfrm>
            <a:off x="3520440" y="366674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[mail]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02920" y="3648456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7EB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You've Got Mail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02920" y="4078224"/>
            <a:ext cx="3794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A6A6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לחיצה על כפתור המייל מפעילה את הצליל הקלאסי מ-AOL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אתגרים שנתקלתי בהם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78408"/>
            <a:ext cx="8229600" cy="0"/>
          </a:xfrm>
          <a:prstGeom prst="line">
            <a:avLst/>
          </a:prstGeom>
          <a:noFill/>
          <a:ln w="6350">
            <a:solidFill>
              <a:srgbClr val="2B2B3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1A1A21"/>
          </a:solidFill>
          <a:ln/>
          <a:effectLst>
            <a:outerShdw sx="100000" sy="100000" kx="0" ky="0" algn="bl" rotWithShape="0" blurRad="101600" dist="38100" dir="27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138160" y="1289304"/>
            <a:ext cx="640080" cy="274320"/>
          </a:xfrm>
          <a:prstGeom prst="roundRect">
            <a:avLst>
              <a:gd name="adj" fmla="val 16667"/>
            </a:avLst>
          </a:prstGeom>
          <a:solidFill>
            <a:srgbClr val="62A1BF"/>
          </a:solidFill>
          <a:ln/>
        </p:spPr>
      </p:sp>
      <p:sp>
        <p:nvSpPr>
          <p:cNvPr id="6" name="Text 4"/>
          <p:cNvSpPr/>
          <p:nvPr/>
        </p:nvSpPr>
        <p:spPr>
          <a:xfrm>
            <a:off x="8138160" y="128930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394960" y="110642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7EB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חסום בסביבת Cowork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106424"/>
            <a:ext cx="4663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ניתן היה להתקין Astro/React. הפתרון: HTML/CSS/JS טהור ללא Build Step — מה שהתברר כבחירה נכונה עבור GitHub Pages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011680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1A1A21"/>
          </a:solidFill>
          <a:ln/>
          <a:effectLst>
            <a:outerShdw sx="100000" sy="100000" kx="0" ky="0" algn="bl" rotWithShape="0" blurRad="101600" dist="38100" dir="27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138160" y="2249424"/>
            <a:ext cx="640080" cy="274320"/>
          </a:xfrm>
          <a:prstGeom prst="roundRect">
            <a:avLst>
              <a:gd name="adj" fmla="val 16667"/>
            </a:avLst>
          </a:prstGeom>
          <a:solidFill>
            <a:srgbClr val="62A1BF"/>
          </a:solidFill>
          <a:ln/>
        </p:spPr>
      </p:sp>
      <p:sp>
        <p:nvSpPr>
          <p:cNvPr id="11" name="Text 9"/>
          <p:cNvSpPr/>
          <p:nvPr/>
        </p:nvSpPr>
        <p:spPr>
          <a:xfrm>
            <a:off x="8138160" y="224942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394960" y="206654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7EB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חסום בסביבת Cowork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2066544"/>
            <a:ext cx="4663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ניתן לדחוף לגיט מהסביבה. הפתרון: Push ידני מהמחשב האישי דרך Terminal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971800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1A1A21"/>
          </a:solidFill>
          <a:ln/>
          <a:effectLst>
            <a:outerShdw sx="100000" sy="100000" kx="0" ky="0" algn="bl" rotWithShape="0" blurRad="101600" dist="38100" dir="270000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38160" y="3209544"/>
            <a:ext cx="640080" cy="274320"/>
          </a:xfrm>
          <a:prstGeom prst="roundRect">
            <a:avLst>
              <a:gd name="adj" fmla="val 16667"/>
            </a:avLst>
          </a:prstGeom>
          <a:solidFill>
            <a:srgbClr val="62A1BF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320954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394960" y="302666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7EB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Lock Files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3026664"/>
            <a:ext cx="4663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לאחר git init בסביבה, נוצרו קבצי נעילה שמנעו push מהמחשב. הפתרון: מחיקה ידנית של HEAD.lock ו-index.lock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931920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1A1A21"/>
          </a:solidFill>
          <a:ln/>
          <a:effectLst>
            <a:outerShdw sx="100000" sy="100000" kx="0" ky="0" algn="bl" rotWithShape="0" blurRad="101600" dist="38100" dir="2700000">
              <a:srgbClr val="00000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38160" y="4169664"/>
            <a:ext cx="640080" cy="274320"/>
          </a:xfrm>
          <a:prstGeom prst="roundRect">
            <a:avLst>
              <a:gd name="adj" fmla="val 16667"/>
            </a:avLst>
          </a:prstGeom>
          <a:solidFill>
            <a:srgbClr val="62A1BF"/>
          </a:solidFill>
          <a:ln/>
        </p:spPr>
      </p:sp>
      <p:sp>
        <p:nvSpPr>
          <p:cNvPr id="21" name="Text 19"/>
          <p:cNvSpPr/>
          <p:nvPr/>
        </p:nvSpPr>
        <p:spPr>
          <a:xfrm>
            <a:off x="8138160" y="4169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RTL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394960" y="398678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7EB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RTL + LTR בו-זמנית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3986784"/>
            <a:ext cx="4663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ניהול כיוון טקסט ב-2 שפות דרך data-i18n attributes + שינוי dir ו-lang ב-&lt;html&gt; עם JS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למדתי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78408"/>
            <a:ext cx="8229600" cy="0"/>
          </a:xfrm>
          <a:prstGeom prst="line">
            <a:avLst/>
          </a:prstGeom>
          <a:noFill/>
          <a:ln w="6350">
            <a:solidFill>
              <a:srgbClr val="2B2B3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1A1A21"/>
          </a:solidFill>
          <a:ln/>
          <a:effectLst>
            <a:outerShdw sx="100000" sy="100000" kx="0" ky="0" algn="bl" rotWithShape="0" blurRad="101600" dist="38100" dir="27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183880" y="1179576"/>
            <a:ext cx="411480" cy="402336"/>
          </a:xfrm>
          <a:prstGeom prst="roundRect">
            <a:avLst>
              <a:gd name="adj" fmla="val 11364"/>
            </a:avLst>
          </a:prstGeom>
          <a:solidFill>
            <a:srgbClr val="7EB6CF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1179576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0" y="1106424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7EB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כשותף לבנייה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106424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כתב את כל הקוד — אבל ההחלטות, הטעם והכיוון נשארו אצלי. AI הוא כלי, לא מחליף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819656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1A1A21"/>
          </a:solidFill>
          <a:ln/>
          <a:effectLst>
            <a:outerShdw sx="100000" sy="100000" kx="0" ky="0" algn="bl" rotWithShape="0" blurRad="101600" dist="38100" dir="27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183880" y="1947672"/>
            <a:ext cx="411480" cy="402336"/>
          </a:xfrm>
          <a:prstGeom prst="roundRect">
            <a:avLst>
              <a:gd name="adj" fmla="val 11364"/>
            </a:avLst>
          </a:prstGeom>
          <a:solidFill>
            <a:srgbClr val="7EB6CF"/>
          </a:solidFill>
          <a:ln/>
        </p:spPr>
      </p:sp>
      <p:sp>
        <p:nvSpPr>
          <p:cNvPr id="11" name="Text 9"/>
          <p:cNvSpPr/>
          <p:nvPr/>
        </p:nvSpPr>
        <p:spPr>
          <a:xfrm>
            <a:off x="8183880" y="1947672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0" y="1874520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7EB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Code מהיום הראשון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187452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מודולרי (5 קבצים), JS כ-IIFE modules, i18n מופרד מהמבנה — Separation of Concerns בפועל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5877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1A1A21"/>
          </a:solidFill>
          <a:ln/>
          <a:effectLst>
            <a:outerShdw sx="100000" sy="100000" kx="0" ky="0" algn="bl" rotWithShape="0" blurRad="101600" dist="38100" dir="270000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83880" y="2715768"/>
            <a:ext cx="411480" cy="402336"/>
          </a:xfrm>
          <a:prstGeom prst="roundRect">
            <a:avLst>
              <a:gd name="adj" fmla="val 11364"/>
            </a:avLst>
          </a:prstGeom>
          <a:solidFill>
            <a:srgbClr val="7EB6CF"/>
          </a:solidFill>
          <a:ln/>
        </p:spPr>
      </p:sp>
      <p:sp>
        <p:nvSpPr>
          <p:cNvPr id="16" name="Text 14"/>
          <p:cNvSpPr/>
          <p:nvPr/>
        </p:nvSpPr>
        <p:spPr>
          <a:xfrm>
            <a:off x="8183880" y="2715768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0" y="2642616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7EB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RTL אינו "טריוויאלי"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2642616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עברית ב-Web דורשת תכנון: logical properties ב-CSS, dir toggle, reorder לאיקונים — הרבה יותר ממה שחשבתי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355848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1A1A21"/>
          </a:solidFill>
          <a:ln/>
          <a:effectLst>
            <a:outerShdw sx="100000" sy="100000" kx="0" ky="0" algn="bl" rotWithShape="0" blurRad="101600" dist="38100" dir="2700000">
              <a:srgbClr val="00000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83880" y="3483864"/>
            <a:ext cx="411480" cy="402336"/>
          </a:xfrm>
          <a:prstGeom prst="roundRect">
            <a:avLst>
              <a:gd name="adj" fmla="val 11364"/>
            </a:avLst>
          </a:prstGeom>
          <a:solidFill>
            <a:srgbClr val="7EB6CF"/>
          </a:solidFill>
          <a:ln/>
        </p:spPr>
      </p:sp>
      <p:sp>
        <p:nvSpPr>
          <p:cNvPr id="21" name="Text 19"/>
          <p:cNvSpPr/>
          <p:nvPr/>
        </p:nvSpPr>
        <p:spPr>
          <a:xfrm>
            <a:off x="8183880" y="3483864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0" y="3410712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7EB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ביצועים מהיום הראשון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341071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WebP + fallback, lazy loading, preload לרקע, parallax ב-JS לתמיכה ב-iOS — אופטימיזציה היא חלק מהבנייה, לא תוספת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123944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1A1A21"/>
          </a:solidFill>
          <a:ln/>
          <a:effectLst>
            <a:outerShdw sx="100000" sy="100000" kx="0" ky="0" algn="bl" rotWithShape="0" blurRad="101600" dist="38100" dir="2700000">
              <a:srgbClr val="000000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183880" y="4251960"/>
            <a:ext cx="411480" cy="402336"/>
          </a:xfrm>
          <a:prstGeom prst="roundRect">
            <a:avLst>
              <a:gd name="adj" fmla="val 11364"/>
            </a:avLst>
          </a:prstGeom>
          <a:solidFill>
            <a:srgbClr val="7EB6CF"/>
          </a:solidFill>
          <a:ln/>
        </p:spPr>
      </p:sp>
      <p:sp>
        <p:nvSpPr>
          <p:cNvPr id="26" name="Text 24"/>
          <p:cNvSpPr/>
          <p:nvPr/>
        </p:nvSpPr>
        <p:spPr>
          <a:xfrm>
            <a:off x="8183880" y="4251960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0" y="4178808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7EB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פרסום זה חלק מהפרויקט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4178808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Git, GitHub Pages, HTTPS, לינקים ציבוריים — התהליך מלמד לא רק קוד אלא גם DevOps בסיסי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457200"/>
            <a:ext cx="3657600" cy="3657600"/>
          </a:xfrm>
          <a:prstGeom prst="ellipse">
            <a:avLst/>
          </a:prstGeom>
          <a:solidFill>
            <a:srgbClr val="7EB6CF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הראל לסניק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7EB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מהנדס סאונד · צלם · עורך וידאו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1737360" cy="1463040"/>
          </a:xfrm>
          <a:prstGeom prst="roundRect">
            <a:avLst>
              <a:gd name="adj" fmla="val 6250"/>
            </a:avLst>
          </a:prstGeom>
          <a:solidFill>
            <a:srgbClr val="1A1A21"/>
          </a:solidFill>
          <a:ln/>
          <a:effectLst>
            <a:outerShdw sx="100000" sy="100000" kx="0" ky="0" algn="bl" rotWithShape="0" blurRad="101600" dist="38100" dir="27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487168"/>
            <a:ext cx="1737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4200" b="1" dirty="0">
                <a:solidFill>
                  <a:srgbClr val="7EB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32461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A6A6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סקשנים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51760" y="2423160"/>
            <a:ext cx="1737360" cy="1463040"/>
          </a:xfrm>
          <a:prstGeom prst="roundRect">
            <a:avLst>
              <a:gd name="adj" fmla="val 6250"/>
            </a:avLst>
          </a:prstGeom>
          <a:solidFill>
            <a:srgbClr val="1A1A21"/>
          </a:solidFill>
          <a:ln/>
          <a:effectLst>
            <a:outerShdw sx="100000" sy="100000" kx="0" ky="0" algn="bl" rotWithShape="0" blurRad="101600" dist="38100" dir="2700000">
              <a:srgbClr val="00000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51760" y="2487168"/>
            <a:ext cx="1737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4200" b="1" dirty="0">
                <a:solidFill>
                  <a:srgbClr val="7EB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2651760" y="32461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A6A6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פיצ׳רים ייחודיים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2423160"/>
            <a:ext cx="1737360" cy="1463040"/>
          </a:xfrm>
          <a:prstGeom prst="roundRect">
            <a:avLst>
              <a:gd name="adj" fmla="val 6250"/>
            </a:avLst>
          </a:prstGeom>
          <a:solidFill>
            <a:srgbClr val="1A1A21"/>
          </a:solidFill>
          <a:ln/>
          <a:effectLst>
            <a:outerShdw sx="100000" sy="100000" kx="0" ky="0" algn="bl" rotWithShape="0" blurRad="101600" dist="38100" dir="2700000">
              <a:srgbClr val="000000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2487168"/>
            <a:ext cx="1737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4200" b="1" dirty="0">
                <a:solidFill>
                  <a:srgbClr val="7EB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4663440" y="32461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A6A6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שפות (RTL/LTR)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75120" y="2423160"/>
            <a:ext cx="1737360" cy="1463040"/>
          </a:xfrm>
          <a:prstGeom prst="roundRect">
            <a:avLst>
              <a:gd name="adj" fmla="val 6250"/>
            </a:avLst>
          </a:prstGeom>
          <a:solidFill>
            <a:srgbClr val="1A1A21"/>
          </a:solidFill>
          <a:ln/>
          <a:effectLst>
            <a:outerShdw sx="100000" sy="100000" kx="0" ky="0" algn="bl" rotWithShape="0" blurRad="101600" dist="38100" dir="2700000">
              <a:srgbClr val="000000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75120" y="2487168"/>
            <a:ext cx="1737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4200" b="1" dirty="0">
                <a:solidFill>
                  <a:srgbClr val="7EB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6675120" y="32461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A6A6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תלויות חיצוניות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371600" y="4114800"/>
            <a:ext cx="6400800" cy="0"/>
          </a:xfrm>
          <a:prstGeom prst="line">
            <a:avLst/>
          </a:prstGeom>
          <a:noFill/>
          <a:ln w="6350">
            <a:solidFill>
              <a:srgbClr val="2B2B3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2A1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github.com/harellesnick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Harel Lesnick – Landing Page Final Project</dc:title>
  <dc:subject>PptxGenJS Presentation</dc:subject>
  <dc:creator>PptxGenJS</dc:creator>
  <cp:lastModifiedBy>PptxGenJS</cp:lastModifiedBy>
  <cp:revision>1</cp:revision>
  <dcterms:created xsi:type="dcterms:W3CDTF">2026-06-23T00:15:49Z</dcterms:created>
  <dcterms:modified xsi:type="dcterms:W3CDTF">2026-06-23T00:15:49Z</dcterms:modified>
</cp:coreProperties>
</file>